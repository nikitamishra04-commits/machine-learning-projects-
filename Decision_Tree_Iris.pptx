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724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3291840" cy="3291840"/>
          </a:xfrm>
          <a:prstGeom prst="ellipse">
            <a:avLst/>
          </a:prstGeom>
          <a:solidFill>
            <a:srgbClr val="1B4D4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383280"/>
            <a:ext cx="2560320" cy="2560320"/>
          </a:xfrm>
          <a:prstGeom prst="ellipse">
            <a:avLst/>
          </a:prstGeom>
          <a:solidFill>
            <a:srgbClr val="123B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CLASSIFICATION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060704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4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</a:t>
            </a:r>
            <a:r>
              <a:rPr lang="en-US" sz="165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flowers</a:t>
            </a:r>
            <a:r>
              <a:rPr lang="en-US" sz="16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flowchart of simple </a:t>
            </a:r>
            <a:r>
              <a:rPr lang="en-US" sz="165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questions.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0080" y="3950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E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pic>
        <p:nvPicPr>
          <p:cNvPr id="8" name="Image 0" descr="images_dt/logo_pyth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pic>
        <p:nvPicPr>
          <p:cNvPr id="9" name="Image 1" descr="images_dt/logo_sklear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4206240"/>
            <a:ext cx="365760" cy="365760"/>
          </a:xfrm>
          <a:prstGeom prst="rect">
            <a:avLst/>
          </a:prstGeom>
        </p:spPr>
      </p:pic>
      <p:pic>
        <p:nvPicPr>
          <p:cNvPr id="10" name="Image 2" descr="images_dt/logo_matplotli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" y="4224528"/>
            <a:ext cx="347472" cy="347472"/>
          </a:xfrm>
          <a:prstGeom prst="rect">
            <a:avLst/>
          </a:prstGeom>
        </p:spPr>
      </p:pic>
      <p:pic>
        <p:nvPicPr>
          <p:cNvPr id="11" name="Image 3" descr="images_dt/logo_panda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" y="42062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43200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B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matplotlib · pandas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355080" y="1051560"/>
            <a:ext cx="2560320" cy="3154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44652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species we'll classify</a:t>
            </a:r>
            <a:endParaRPr lang="en-US" sz="1100" dirty="0"/>
          </a:p>
        </p:txBody>
      </p:sp>
      <p:pic>
        <p:nvPicPr>
          <p:cNvPr id="15" name="Image 4" descr="images_dt/iris_scatter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46520" y="1481328"/>
            <a:ext cx="237744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Decision Tree?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predicts by asking a chain of </a:t>
            </a:r>
            <a:r>
              <a:rPr lang="en-US" sz="1550" b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questions</a:t>
            </a:r>
            <a:r>
              <a:rPr lang="en-US" sz="15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the data — exactly like a </a:t>
            </a:r>
            <a:r>
              <a:rPr lang="en-US" sz="1550" b="1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48640" cy="548640"/>
          </a:xfrm>
          <a:prstGeom prst="ellipse">
            <a:avLst/>
          </a:prstGeom>
          <a:solidFill>
            <a:srgbClr val="2BB673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6" name="Image 0" descr="images_dt/ic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24341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2494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simple questions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80160" y="2532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tests one feature against a threshold (e.g. petal length ≤ 2.45?).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127248"/>
            <a:ext cx="548640" cy="548640"/>
          </a:xfrm>
          <a:prstGeom prst="ellipse">
            <a:avLst/>
          </a:prstGeom>
          <a:solidFill>
            <a:srgbClr val="F2A03D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10" name="Image 1" descr="images_dt/ic_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3275381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090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branches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80160" y="3374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sends the flower left or right, down to the next question.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3968496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14" name="Image 2" descr="images_dt/ic_lea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4116629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a leaf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80160" y="42153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leaf is a final answer — the predicted flower species.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943600" y="1481328"/>
            <a:ext cx="2286000" cy="566928"/>
          </a:xfrm>
          <a:prstGeom prst="roundRect">
            <a:avLst>
              <a:gd name="adj" fmla="val 11290"/>
            </a:avLst>
          </a:prstGeom>
          <a:solidFill>
            <a:srgbClr val="0F2E25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943600" y="1481328"/>
            <a:ext cx="2286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≤ 2.45?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 flipH="1">
            <a:off x="6035040" y="2048256"/>
            <a:ext cx="1051560" cy="493776"/>
          </a:xfrm>
          <a:prstGeom prst="line">
            <a:avLst/>
          </a:prstGeom>
          <a:noFill/>
          <a:ln w="22225">
            <a:solidFill>
              <a:srgbClr val="AFC3B9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086600" y="2048256"/>
            <a:ext cx="1051560" cy="475488"/>
          </a:xfrm>
          <a:prstGeom prst="line">
            <a:avLst/>
          </a:prstGeom>
          <a:noFill/>
          <a:ln w="22225">
            <a:solidFill>
              <a:srgbClr val="AFC3B9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6126480" y="2139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543800" y="21214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349240" y="2542032"/>
            <a:ext cx="1371600" cy="530352"/>
          </a:xfrm>
          <a:prstGeom prst="roundRect">
            <a:avLst>
              <a:gd name="adj" fmla="val 12069"/>
            </a:avLst>
          </a:prstGeom>
          <a:solidFill>
            <a:srgbClr val="2BB673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349240" y="2542032"/>
            <a:ext cx="137160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246620" y="2523744"/>
            <a:ext cx="1783080" cy="566928"/>
          </a:xfrm>
          <a:prstGeom prst="roundRect">
            <a:avLst>
              <a:gd name="adj" fmla="val 11290"/>
            </a:avLst>
          </a:prstGeom>
          <a:solidFill>
            <a:srgbClr val="3E6B5C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246620" y="2523744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width ≤ 1.75?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 flipH="1">
            <a:off x="7223760" y="3090672"/>
            <a:ext cx="914400" cy="493776"/>
          </a:xfrm>
          <a:prstGeom prst="line">
            <a:avLst/>
          </a:prstGeom>
          <a:noFill/>
          <a:ln w="22225">
            <a:solidFill>
              <a:srgbClr val="AFC3B9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8138160" y="3090672"/>
            <a:ext cx="274320" cy="493776"/>
          </a:xfrm>
          <a:prstGeom prst="line">
            <a:avLst/>
          </a:prstGeom>
          <a:noFill/>
          <a:ln w="22225">
            <a:solidFill>
              <a:srgbClr val="AFC3B9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675120" y="3584448"/>
            <a:ext cx="1097280" cy="512064"/>
          </a:xfrm>
          <a:prstGeom prst="roundRect">
            <a:avLst>
              <a:gd name="adj" fmla="val 12500"/>
            </a:avLst>
          </a:prstGeom>
          <a:solidFill>
            <a:srgbClr val="F2A03D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675120" y="3584448"/>
            <a:ext cx="10972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909560" y="3584448"/>
            <a:ext cx="1005840" cy="512064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7909560" y="3584448"/>
            <a:ext cx="100584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5394960" y="4224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just follows the arrows to a leaf.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tree chooses a split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 the tree tries every possible question and keeps the one that makes the resulting groups as </a:t>
            </a:r>
            <a:r>
              <a:rPr lang="en-US" sz="1450" b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r>
              <a:rPr lang="en-US" sz="14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possible.  Purity is measured by </a:t>
            </a:r>
            <a:r>
              <a:rPr lang="en-US" sz="1450" b="1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</a:t>
            </a:r>
            <a:r>
              <a:rPr lang="en-US" sz="14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0 means a group is all one species; higher means more mixed.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863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6" name="Image 0" descr="images_dt/gini_concep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5840" y="2542032"/>
            <a:ext cx="713232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1330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Gini = a better, cleaner split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Depth, overfitting &amp; which features matter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27632"/>
            <a:ext cx="548640" cy="548640"/>
          </a:xfrm>
          <a:prstGeom prst="ellipse">
            <a:avLst/>
          </a:prstGeom>
          <a:solidFill>
            <a:srgbClr val="19A7C4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6" name="Image 0" descr="images_dt/ic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7576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3 keeps it simple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19751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how many questions deep the tree can go. A shallow tree generalises; a very deep tree can memorise noise — that’s overfitting.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07792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118104"/>
            <a:ext cx="548640" cy="548640"/>
          </a:xfrm>
          <a:prstGeom prst="ellipse">
            <a:avLst/>
          </a:prstGeom>
          <a:solidFill>
            <a:srgbClr val="2BB673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11" name="Image 1" descr="images_dt/ic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266237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1363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needed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63040" y="346557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split on thresholds, not distances, so big and small features mix fine. Using raw cm values also keeps the drawn tree readable.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0" y="141732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138928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rank features — petals win</a:t>
            </a:r>
            <a:endParaRPr lang="en-US" sz="1150" dirty="0"/>
          </a:p>
        </p:txBody>
      </p:sp>
      <p:pic>
        <p:nvPicPr>
          <p:cNvPr id="16" name="Image 2" descr="images_dt/feature_importanc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8928" y="1874520"/>
            <a:ext cx="3657600" cy="21945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D3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Iris Dataset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48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41732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481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240280" y="2048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41732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1481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931920" y="2048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MEASUREMENTS (FEATURES → 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9F2E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length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17520" y="30175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9F2EC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017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width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9F2E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17520" y="34747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9F2EC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3474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width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(TARGET → 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3708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70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Setosa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57400" y="4370832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CEFDD"/>
          </a:solidFill>
          <a:ln/>
        </p:spPr>
      </p:sp>
      <p:sp>
        <p:nvSpPr>
          <p:cNvPr id="26" name="Text 24"/>
          <p:cNvSpPr/>
          <p:nvPr/>
        </p:nvSpPr>
        <p:spPr>
          <a:xfrm>
            <a:off x="2057400" y="43708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Versicolor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0" y="43708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FE9FD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4370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D3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Virginica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141732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5332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Petals alone separate the species</a:t>
            </a:r>
            <a:endParaRPr lang="en-US" sz="1100" dirty="0"/>
          </a:p>
        </p:txBody>
      </p:sp>
      <p:pic>
        <p:nvPicPr>
          <p:cNvPr id="31" name="Image 0" descr="images_dt/iris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828800"/>
            <a:ext cx="2743200" cy="26974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from raw flowers to a drawn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2BB673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6" name="Image 0" descr="images_dt/ic_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79" y="195443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9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1732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33472" y="160020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34640" y="1801368"/>
            <a:ext cx="566928" cy="566928"/>
          </a:xfrm>
          <a:prstGeom prst="ellipse">
            <a:avLst/>
          </a:prstGeom>
          <a:solidFill>
            <a:srgbClr val="F2A03D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11" name="Image 1" descr="images_dt/ic_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711" y="195443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1819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02152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18304" y="160020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19472" y="1801368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16" name="Image 2" descr="images_dt/ic_spl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543" y="1954439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86984" y="1819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586984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03136" y="160020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04304" y="1801368"/>
            <a:ext cx="566928" cy="566928"/>
          </a:xfrm>
          <a:prstGeom prst="ellipse">
            <a:avLst/>
          </a:prstGeom>
          <a:solidFill>
            <a:srgbClr val="19A7C4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21" name="Image 3" descr="images_dt/ic_tr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7375" y="1954439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71816" y="1819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9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671816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tree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1549908" y="315468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751076" y="3355848"/>
            <a:ext cx="566928" cy="566928"/>
          </a:xfrm>
          <a:prstGeom prst="ellipse">
            <a:avLst/>
          </a:prstGeom>
          <a:solidFill>
            <a:srgbClr val="2BB673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26" name="Image 4" descr="images_dt/ic_predi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4147" y="3508919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418588" y="3374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418588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634740" y="315468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835908" y="3355848"/>
            <a:ext cx="566928" cy="566928"/>
          </a:xfrm>
          <a:prstGeom prst="ellipse">
            <a:avLst/>
          </a:prstGeom>
          <a:solidFill>
            <a:srgbClr val="F2A03D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1" name="Image 5" descr="images_dt/ic_rep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8979" y="3508919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503420" y="3374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50342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719572" y="3154680"/>
            <a:ext cx="1874520" cy="1325880"/>
          </a:xfrm>
          <a:prstGeom prst="roundRect">
            <a:avLst>
              <a:gd name="adj" fmla="val 8276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920740" y="3355848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6" name="Image 6" descr="images_dt/ic_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3811" y="3508919"/>
            <a:ext cx="260787" cy="26078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88252" y="3374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6588252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48640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6B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every step explained line by line  →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188F57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CODE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tools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709160" cy="3429000"/>
          </a:xfrm>
          <a:prstGeom prst="roundRect">
            <a:avLst>
              <a:gd name="adj" fmla="val 2400"/>
            </a:avLst>
          </a:prstGeom>
          <a:solidFill>
            <a:srgbClr val="132A22"/>
          </a:solidFill>
          <a:ln w="12700">
            <a:solidFill>
              <a:srgbClr val="2C5246"/>
            </a:solidFill>
            <a:prstDash val="solid"/>
          </a:ln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45389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41832" y="14538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145389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D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imports.py</a:t>
            </a:r>
            <a:endParaRPr lang="en-US" sz="1050" dirty="0"/>
          </a:p>
        </p:txBody>
      </p:sp>
      <p:pic>
        <p:nvPicPr>
          <p:cNvPr id="11" name="Image 1" descr="images_dt/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26464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1700784"/>
            <a:ext cx="4434840" cy="0"/>
          </a:xfrm>
          <a:prstGeom prst="line">
            <a:avLst/>
          </a:prstGeom>
          <a:noFill/>
          <a:ln w="12700">
            <a:solidFill>
              <a:srgbClr val="2C52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1792224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libraries we need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sklearn.datasets </a:t>
            </a: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load_iris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sklearn.model_selection </a:t>
            </a: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train_test_split)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sklearn.tree </a:t>
            </a: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F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plot_tree)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sklearn.metrics </a:t>
            </a:r>
            <a:r>
              <a:rPr lang="en-US" sz="125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accuracy_score,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confusion_matrix,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classification_report)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655064"/>
            <a:ext cx="109728" cy="109728"/>
          </a:xfrm>
          <a:prstGeom prst="ellipse">
            <a:avLst/>
          </a:prstGeom>
          <a:solidFill>
            <a:srgbClr val="188F57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0" y="1581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data as tidy tables.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0" y="2258568"/>
            <a:ext cx="109728" cy="109728"/>
          </a:xfrm>
          <a:prstGeom prst="ellipse">
            <a:avLst/>
          </a:prstGeom>
          <a:solidFill>
            <a:srgbClr val="188F57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0" y="218541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matplotlib.pyplot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tree and charts.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0" y="2862072"/>
            <a:ext cx="109728" cy="109728"/>
          </a:xfrm>
          <a:prstGeom prst="ellipse">
            <a:avLst/>
          </a:prstGeom>
          <a:solidFill>
            <a:srgbClr val="188F57"/>
          </a:solidFill>
          <a:ln/>
        </p:spPr>
      </p:sp>
      <p:sp>
        <p:nvSpPr>
          <p:cNvPr id="20" name="Text 16"/>
          <p:cNvSpPr/>
          <p:nvPr/>
        </p:nvSpPr>
        <p:spPr>
          <a:xfrm>
            <a:off x="5715000" y="2788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flower dataset.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0" y="3465576"/>
            <a:ext cx="109728" cy="109728"/>
          </a:xfrm>
          <a:prstGeom prst="ellipse">
            <a:avLst/>
          </a:prstGeom>
          <a:solidFill>
            <a:srgbClr val="188F57"/>
          </a:solidFill>
          <a:ln/>
        </p:spPr>
      </p:sp>
      <p:sp>
        <p:nvSpPr>
          <p:cNvPr id="22" name="Text 18"/>
          <p:cNvSpPr/>
          <p:nvPr/>
        </p:nvSpPr>
        <p:spPr>
          <a:xfrm>
            <a:off x="5715000" y="339242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 vs. test.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0" y="4069080"/>
            <a:ext cx="109728" cy="109728"/>
          </a:xfrm>
          <a:prstGeom prst="ellipse">
            <a:avLst/>
          </a:prstGeom>
          <a:solidFill>
            <a:srgbClr val="188F57"/>
          </a:solidFill>
          <a:ln/>
        </p:spPr>
      </p:sp>
      <p:sp>
        <p:nvSpPr>
          <p:cNvPr id="24" name="Text 20"/>
          <p:cNvSpPr/>
          <p:nvPr/>
        </p:nvSpPr>
        <p:spPr>
          <a:xfrm>
            <a:off x="5715000" y="39959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 + metrics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tree-drawer &amp; scoring tools.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B9781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CODE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the dataset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709160" cy="3429000"/>
          </a:xfrm>
          <a:prstGeom prst="roundRect">
            <a:avLst>
              <a:gd name="adj" fmla="val 2400"/>
            </a:avLst>
          </a:prstGeom>
          <a:solidFill>
            <a:srgbClr val="132A22"/>
          </a:solidFill>
          <a:ln w="12700">
            <a:solidFill>
              <a:srgbClr val="2C5246"/>
            </a:solidFill>
            <a:prstDash val="solid"/>
          </a:ln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45389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41832" y="14538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145389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D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load.py</a:t>
            </a:r>
            <a:endParaRPr lang="en-US" sz="1050" dirty="0"/>
          </a:p>
        </p:txBody>
      </p:sp>
      <p:pic>
        <p:nvPicPr>
          <p:cNvPr id="11" name="Image 1" descr="images_dt/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26464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1700784"/>
            <a:ext cx="4434840" cy="0"/>
          </a:xfrm>
          <a:prstGeom prst="line">
            <a:avLst/>
          </a:prstGeom>
          <a:noFill/>
          <a:ln w="12700">
            <a:solidFill>
              <a:srgbClr val="2C52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1792224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Iris flower dataset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 = </a:t>
            </a:r>
            <a:r>
              <a:rPr lang="en-US" sz="125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features, Y = labels (0/1/2)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iris.data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iris.target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691640"/>
            <a:ext cx="109728" cy="109728"/>
          </a:xfrm>
          <a:prstGeom prst="ellipse">
            <a:avLst/>
          </a:prstGeom>
          <a:solidFill>
            <a:srgbClr val="B97816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0" y="16184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978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load_iris()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built-in flower dataset.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0" y="2532888"/>
            <a:ext cx="109728" cy="109728"/>
          </a:xfrm>
          <a:prstGeom prst="ellipse">
            <a:avLst/>
          </a:prstGeom>
          <a:solidFill>
            <a:srgbClr val="B97816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0" y="245973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978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iris.data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 — the 4 measurements.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0" y="3374136"/>
            <a:ext cx="109728" cy="109728"/>
          </a:xfrm>
          <a:prstGeom prst="ellipse">
            <a:avLst/>
          </a:prstGeom>
          <a:solidFill>
            <a:srgbClr val="B97816"/>
          </a:solidFill>
          <a:ln/>
        </p:spPr>
      </p:sp>
      <p:sp>
        <p:nvSpPr>
          <p:cNvPr id="20" name="Text 16"/>
          <p:cNvSpPr/>
          <p:nvPr/>
        </p:nvSpPr>
        <p:spPr>
          <a:xfrm>
            <a:off x="5715000" y="330098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978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iris.target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— species as 0 / 1 / 2.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6D3FD4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D3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CODE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Split: train vs. test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709160" cy="3429000"/>
          </a:xfrm>
          <a:prstGeom prst="roundRect">
            <a:avLst>
              <a:gd name="adj" fmla="val 2400"/>
            </a:avLst>
          </a:prstGeom>
          <a:solidFill>
            <a:srgbClr val="132A22"/>
          </a:solidFill>
          <a:ln w="12700">
            <a:solidFill>
              <a:srgbClr val="2C5246"/>
            </a:solidFill>
            <a:prstDash val="solid"/>
          </a:ln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45389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41832" y="14538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145389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D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split.py</a:t>
            </a:r>
            <a:endParaRPr lang="en-US" sz="1050" dirty="0"/>
          </a:p>
        </p:txBody>
      </p:sp>
      <p:pic>
        <p:nvPicPr>
          <p:cNvPr id="11" name="Image 1" descr="images_dt/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26464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1700784"/>
            <a:ext cx="4434840" cy="0"/>
          </a:xfrm>
          <a:prstGeom prst="line">
            <a:avLst/>
          </a:prstGeom>
          <a:noFill/>
          <a:ln w="12700">
            <a:solidFill>
              <a:srgbClr val="2C52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1792224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80% to train, 20% to test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X, Y,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test_size=</a:t>
            </a:r>
            <a:r>
              <a:rPr lang="en-US" sz="1250" dirty="0">
                <a:solidFill>
                  <a:srgbClr val="B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random_state=</a:t>
            </a:r>
            <a:r>
              <a:rPr lang="en-US" sz="1250" dirty="0">
                <a:solidFill>
                  <a:srgbClr val="B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691640"/>
            <a:ext cx="109728" cy="109728"/>
          </a:xfrm>
          <a:prstGeom prst="ellipse">
            <a:avLst/>
          </a:prstGeom>
          <a:solidFill>
            <a:srgbClr val="6D3FD4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0" y="16184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6D3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test_size=0.2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back 20% to test the tree.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0" y="2532888"/>
            <a:ext cx="109728" cy="109728"/>
          </a:xfrm>
          <a:prstGeom prst="ellipse">
            <a:avLst/>
          </a:prstGeom>
          <a:solidFill>
            <a:srgbClr val="6D3FD4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0" y="245973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6D3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random_state=42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split so runs match.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0" y="3374136"/>
            <a:ext cx="109728" cy="109728"/>
          </a:xfrm>
          <a:prstGeom prst="ellipse">
            <a:avLst/>
          </a:prstGeom>
          <a:solidFill>
            <a:srgbClr val="6D3FD4"/>
          </a:solidFill>
          <a:ln/>
        </p:spPr>
      </p:sp>
      <p:sp>
        <p:nvSpPr>
          <p:cNvPr id="20" name="Text 16"/>
          <p:cNvSpPr/>
          <p:nvPr/>
        </p:nvSpPr>
        <p:spPr>
          <a:xfrm>
            <a:off x="5715000" y="330098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6D3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outputs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test inputs and labels.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23" name="Image 2" descr="images_dt/split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611880"/>
            <a:ext cx="1143000" cy="11430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63524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0E7E9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train the tree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709160" cy="3429000"/>
          </a:xfrm>
          <a:prstGeom prst="roundRect">
            <a:avLst>
              <a:gd name="adj" fmla="val 2400"/>
            </a:avLst>
          </a:prstGeom>
          <a:solidFill>
            <a:srgbClr val="132A22"/>
          </a:solidFill>
          <a:ln w="12700">
            <a:solidFill>
              <a:srgbClr val="2C5246"/>
            </a:solidFill>
            <a:prstDash val="solid"/>
          </a:ln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45389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41832" y="14538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145389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D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050" dirty="0"/>
          </a:p>
        </p:txBody>
      </p:sp>
      <p:pic>
        <p:nvPicPr>
          <p:cNvPr id="11" name="Image 1" descr="images_dt/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26464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1700784"/>
            <a:ext cx="4434840" cy="0"/>
          </a:xfrm>
          <a:prstGeom prst="line">
            <a:avLst/>
          </a:prstGeom>
          <a:noFill/>
          <a:ln w="12700">
            <a:solidFill>
              <a:srgbClr val="2C52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1792224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gini split, capped at depth 3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Decison_tree = </a:t>
            </a:r>
            <a:r>
              <a:rPr lang="en-US" sz="1250" dirty="0">
                <a:solidFill>
                  <a:srgbClr val="5F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criterion=</a:t>
            </a:r>
            <a:r>
              <a:rPr lang="en-US" sz="1250" dirty="0">
                <a:solidFill>
                  <a:srgbClr val="E6A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'gini'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</a:t>
            </a:r>
            <a:r>
              <a:rPr lang="en-US" sz="1250" dirty="0">
                <a:solidFill>
                  <a:srgbClr val="B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</a:t>
            </a:r>
            <a:r>
              <a:rPr lang="en-US" sz="1250" dirty="0">
                <a:solidFill>
                  <a:srgbClr val="B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= learn the question rules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Decison_tree.</a:t>
            </a:r>
            <a:r>
              <a:rPr lang="en-US" sz="125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673352"/>
            <a:ext cx="109728" cy="109728"/>
          </a:xfrm>
          <a:prstGeom prst="ellipse">
            <a:avLst/>
          </a:prstGeom>
          <a:solidFill>
            <a:srgbClr val="0E7E96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0" y="1600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E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criterion='gini'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to make each group as pure as it can.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0" y="2542032"/>
            <a:ext cx="109728" cy="109728"/>
          </a:xfrm>
          <a:prstGeom prst="ellipse">
            <a:avLst/>
          </a:prstGeom>
          <a:solidFill>
            <a:srgbClr val="0E7E96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0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E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max_depth=3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3 questions deep — avoids overfitting.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0" y="3410712"/>
            <a:ext cx="109728" cy="109728"/>
          </a:xfrm>
          <a:prstGeom prst="ellipse">
            <a:avLst/>
          </a:prstGeom>
          <a:solidFill>
            <a:srgbClr val="0E7E96"/>
          </a:solidFill>
          <a:ln/>
        </p:spPr>
      </p:sp>
      <p:sp>
        <p:nvSpPr>
          <p:cNvPr id="20" name="Text 16"/>
          <p:cNvSpPr/>
          <p:nvPr/>
        </p:nvSpPr>
        <p:spPr>
          <a:xfrm>
            <a:off x="5715000" y="3337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E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.fit(...)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yes/no rules from the training data.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86400" y="420624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24" name="Text 20"/>
          <p:cNvSpPr/>
          <p:nvPr/>
        </p:nvSpPr>
        <p:spPr>
          <a:xfrm>
            <a:off x="5486400" y="42062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required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188F57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predictions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709160" cy="3429000"/>
          </a:xfrm>
          <a:prstGeom prst="roundRect">
            <a:avLst>
              <a:gd name="adj" fmla="val 2400"/>
            </a:avLst>
          </a:prstGeom>
          <a:solidFill>
            <a:srgbClr val="132A22"/>
          </a:solidFill>
          <a:ln w="12700">
            <a:solidFill>
              <a:srgbClr val="2C5246"/>
            </a:solidFill>
            <a:prstDash val="solid"/>
          </a:ln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45389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41832" y="14538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145389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D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predict.py</a:t>
            </a:r>
            <a:endParaRPr lang="en-US" sz="1050" dirty="0"/>
          </a:p>
        </p:txBody>
      </p:sp>
      <p:pic>
        <p:nvPicPr>
          <p:cNvPr id="11" name="Image 1" descr="images_dt/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26464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1700784"/>
            <a:ext cx="4434840" cy="0"/>
          </a:xfrm>
          <a:prstGeom prst="line">
            <a:avLst/>
          </a:prstGeom>
          <a:noFill/>
          <a:ln w="12700">
            <a:solidFill>
              <a:srgbClr val="2C52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1792224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species for test flowers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Decison_tree.</a:t>
            </a:r>
            <a:r>
              <a:rPr lang="en-US" sz="125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(X_test)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810512"/>
            <a:ext cx="109728" cy="109728"/>
          </a:xfrm>
          <a:prstGeom prst="ellipse">
            <a:avLst/>
          </a:prstGeom>
          <a:solidFill>
            <a:srgbClr val="188F57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0" y="1737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.predict(X_test)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each test flower down the tree to a leaf.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0" y="2816352"/>
            <a:ext cx="109728" cy="109728"/>
          </a:xfrm>
          <a:prstGeom prst="ellipse">
            <a:avLst/>
          </a:prstGeom>
          <a:solidFill>
            <a:srgbClr val="188F57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0" y="27432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88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species (0 / 1 / 2) for every flower.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B9781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CODE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performance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4709160" cy="3429000"/>
          </a:xfrm>
          <a:prstGeom prst="roundRect">
            <a:avLst>
              <a:gd name="adj" fmla="val 2400"/>
            </a:avLst>
          </a:prstGeom>
          <a:solidFill>
            <a:srgbClr val="132A22"/>
          </a:solidFill>
          <a:ln w="12700">
            <a:solidFill>
              <a:srgbClr val="2C5246"/>
            </a:solidFill>
            <a:prstDash val="solid"/>
          </a:ln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45389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41832" y="145389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145389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1371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D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evaluate.py</a:t>
            </a:r>
            <a:endParaRPr lang="en-US" sz="1050" dirty="0"/>
          </a:p>
        </p:txBody>
      </p:sp>
      <p:pic>
        <p:nvPicPr>
          <p:cNvPr id="11" name="Image 1" descr="images_dt/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26464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1700784"/>
            <a:ext cx="4434840" cy="0"/>
          </a:xfrm>
          <a:prstGeom prst="line">
            <a:avLst/>
          </a:prstGeom>
          <a:noFill/>
          <a:ln w="12700">
            <a:solidFill>
              <a:srgbClr val="2C52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1792224"/>
            <a:ext cx="4251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accuracy (fraction correct)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</a:t>
            </a:r>
            <a:r>
              <a:rPr lang="en-US" sz="125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Y_test, Y_pred)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grid of right vs. confused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conf_mat = </a:t>
            </a:r>
            <a:r>
              <a:rPr lang="en-US" sz="125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Y_test, Y_pred)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precision / recall / f1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Detailed_report = </a:t>
            </a:r>
            <a:r>
              <a:rPr lang="en-US" sz="125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</a:t>
            </a: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Y_test, Y_pred)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719072"/>
            <a:ext cx="109728" cy="109728"/>
          </a:xfrm>
          <a:prstGeom prst="ellipse">
            <a:avLst/>
          </a:prstGeom>
          <a:solidFill>
            <a:srgbClr val="B97816"/>
          </a:solidFill>
          <a:ln/>
        </p:spPr>
      </p:sp>
      <p:sp>
        <p:nvSpPr>
          <p:cNvPr id="16" name="Text 12"/>
          <p:cNvSpPr/>
          <p:nvPr/>
        </p:nvSpPr>
        <p:spPr>
          <a:xfrm>
            <a:off x="5715000" y="1645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978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% of test flowers it got right.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0" y="2468880"/>
            <a:ext cx="109728" cy="109728"/>
          </a:xfrm>
          <a:prstGeom prst="ellipse">
            <a:avLst/>
          </a:prstGeom>
          <a:solidFill>
            <a:srgbClr val="B97816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0" y="23957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978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correct vs. confused guesses.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0" y="3218688"/>
            <a:ext cx="109728" cy="109728"/>
          </a:xfrm>
          <a:prstGeom prst="ellipse">
            <a:avLst/>
          </a:prstGeom>
          <a:solidFill>
            <a:srgbClr val="B97816"/>
          </a:solidFill>
          <a:ln/>
        </p:spPr>
      </p:sp>
      <p:sp>
        <p:nvSpPr>
          <p:cNvPr id="20" name="Text 16"/>
          <p:cNvSpPr/>
          <p:nvPr/>
        </p:nvSpPr>
        <p:spPr>
          <a:xfrm>
            <a:off x="5715000" y="314553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B978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per species.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F2A03D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7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OUTPUT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model's report card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8862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371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50" dirty="0"/>
          </a:p>
        </p:txBody>
      </p:sp>
      <p:pic>
        <p:nvPicPr>
          <p:cNvPr id="8" name="Image 1" descr="images_dt/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1691640"/>
            <a:ext cx="3246120" cy="2697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63440" y="128016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0F2E25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754880" y="1280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6355080" y="1280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30 / 30 test flowers correct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7E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(max_depth = 3, random_state = 42)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66344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670048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Species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88F57"/>
                          </a:solidFill>
                        </a:rPr>
                        <a:t>Setosa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97816"/>
                          </a:solidFill>
                        </a:rPr>
                        <a:t>Versicolor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D3FD4"/>
                          </a:solidFill>
                        </a:rPr>
                        <a:t>Virginica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26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663440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88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species classified perfectly — no confusion.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603504" cy="603504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3" name="Image 0" descr="images_dt/ic_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" y="528706"/>
            <a:ext cx="277612" cy="2776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D3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CODE + OUTPUT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25880" y="603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tree (plt.show)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429000" cy="3520440"/>
          </a:xfrm>
          <a:prstGeom prst="roundRect">
            <a:avLst>
              <a:gd name="adj" fmla="val 2400"/>
            </a:avLst>
          </a:prstGeom>
          <a:solidFill>
            <a:srgbClr val="132A22"/>
          </a:solidFill>
          <a:ln w="12700">
            <a:solidFill>
              <a:srgbClr val="2C5246"/>
            </a:solidFill>
            <a:prstDash val="solid"/>
          </a:ln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" y="140817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896112" y="140817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069848" y="140817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1325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B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visualise.py</a:t>
            </a:r>
            <a:endParaRPr lang="en-US" sz="1000" dirty="0"/>
          </a:p>
        </p:txBody>
      </p:sp>
      <p:pic>
        <p:nvPicPr>
          <p:cNvPr id="11" name="Image 1" descr="images_dt/logo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380744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1655064"/>
            <a:ext cx="3154680" cy="0"/>
          </a:xfrm>
          <a:prstGeom prst="line">
            <a:avLst/>
          </a:prstGeom>
          <a:noFill/>
          <a:ln w="12700">
            <a:solidFill>
              <a:srgbClr val="2C52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0664" y="1746504"/>
            <a:ext cx="30083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trained tree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00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(figsize=(</a:t>
            </a:r>
            <a:r>
              <a:rPr lang="en-US" sz="1000" dirty="0">
                <a:solidFill>
                  <a:srgbClr val="B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B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plot_tree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(Decison_tree,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feature_names=iris.feature_names,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class_names=iris.target_names,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filled=</a:t>
            </a:r>
            <a:r>
              <a:rPr lang="en-US" sz="100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rounded=</a:t>
            </a:r>
            <a:r>
              <a:rPr lang="en-US" sz="1000" dirty="0">
                <a:solidFill>
                  <a:srgbClr val="E59B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fontsize=</a:t>
            </a:r>
            <a:r>
              <a:rPr lang="en-US" sz="1000" dirty="0">
                <a:solidFill>
                  <a:srgbClr val="BF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title and display it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00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E6A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"Decision tree (Iris)"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000" dirty="0">
                <a:solidFill>
                  <a:srgbClr val="EB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r>
              <a:rPr lang="en-US" sz="1000" dirty="0">
                <a:solidFill>
                  <a:srgbClr val="DCE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0" y="1234440"/>
            <a:ext cx="47548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AE4"/>
            </a:solidFill>
            <a:prstDash val="solid"/>
          </a:ln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20624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 →  the trained decision tree</a:t>
            </a:r>
            <a:endParaRPr lang="en-US" sz="1050" dirty="0"/>
          </a:p>
        </p:txBody>
      </p:sp>
      <p:pic>
        <p:nvPicPr>
          <p:cNvPr id="16" name="Image 2" descr="images_dt/tree_plo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24528" y="1627632"/>
            <a:ext cx="4535424" cy="3017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108960"/>
            <a:ext cx="3108960" cy="3108960"/>
          </a:xfrm>
          <a:prstGeom prst="ellipse">
            <a:avLst/>
          </a:prstGeom>
          <a:solidFill>
            <a:srgbClr val="1B4D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3504" y="169164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65376"/>
            <a:ext cx="566928" cy="566928"/>
          </a:xfrm>
          <a:prstGeom prst="ellipse">
            <a:avLst/>
          </a:prstGeom>
          <a:solidFill>
            <a:srgbClr val="2BB673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7" name="Image 0" descr="images_dt/ic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2018447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379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of questions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00200" y="216712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6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splits on one feature; following the answers leads to a species.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" y="2724912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898648"/>
            <a:ext cx="566928" cy="566928"/>
          </a:xfrm>
          <a:prstGeom prst="ellipse">
            <a:avLst/>
          </a:prstGeom>
          <a:solidFill>
            <a:srgbClr val="F2A03D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12" name="Image 1" descr="images_dt/ic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305171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71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that cut Gini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600200" y="32004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6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chosen to make the groups as pure as possible, up to depth 3.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" y="3758184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1B4D40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A9BDB3">
                <a:alpha val="34000"/>
              </a:srgbClr>
            </a:outerShdw>
          </a:effectLst>
        </p:spPr>
      </p:sp>
      <p:pic>
        <p:nvPicPr>
          <p:cNvPr id="17" name="Image 2" descr="images_dt/ic_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31" y="408499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9044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visualised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600200" y="42336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6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— and the drawn tree shows it relies almost entirely on petals.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20840" y="1691640"/>
            <a:ext cx="2103120" cy="3108960"/>
          </a:xfrm>
          <a:prstGeom prst="roundRect">
            <a:avLst>
              <a:gd name="adj" fmla="val 6087"/>
            </a:avLst>
          </a:prstGeom>
          <a:solidFill>
            <a:srgbClr val="2BB673"/>
          </a:solidFill>
          <a:ln/>
          <a:effectLst>
            <a:outerShdw blurRad="114300" dist="38100" dir="5400000" algn="bl" rotWithShape="0">
              <a:srgbClr val="08201A">
                <a:alpha val="2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720840" y="2148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22" name="Text 17"/>
          <p:cNvSpPr/>
          <p:nvPr/>
        </p:nvSpPr>
        <p:spPr>
          <a:xfrm>
            <a:off x="67208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086600" y="3429000"/>
            <a:ext cx="1371600" cy="0"/>
          </a:xfrm>
          <a:prstGeom prst="line">
            <a:avLst/>
          </a:prstGeom>
          <a:noFill/>
          <a:ln w="19050">
            <a:solidFill>
              <a:srgbClr val="1C8A5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72084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A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· depth 3</a:t>
            </a:r>
            <a:endParaRPr lang="en-US" sz="1200" dirty="0"/>
          </a:p>
        </p:txBody>
      </p:sp>
      <p:pic>
        <p:nvPicPr>
          <p:cNvPr id="25" name="Image 3" descr="images_dt/logo_python_white.png"/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7360920" y="4069080"/>
            <a:ext cx="365760" cy="365760"/>
          </a:xfrm>
          <a:prstGeom prst="rect">
            <a:avLst/>
          </a:prstGeom>
        </p:spPr>
      </p:pic>
      <p:pic>
        <p:nvPicPr>
          <p:cNvPr id="26" name="Image 4" descr="images_dt/logo_sklearn_white.png"/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7863840" y="40690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Iris Classification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8138160" y="48463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</Words>
  <Application>Microsoft Office PowerPoint</Application>
  <PresentationFormat>On-screen Show (16:9)</PresentationFormat>
  <Paragraphs>274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- Iris Classification</dc:title>
  <dc:subject>PptxGenJS Presentation</dc:subject>
  <dc:creator>Cosmo IT</dc:creator>
  <cp:lastModifiedBy>Intern IT</cp:lastModifiedBy>
  <cp:revision>1</cp:revision>
  <dcterms:created xsi:type="dcterms:W3CDTF">2026-06-11T09:56:29Z</dcterms:created>
  <dcterms:modified xsi:type="dcterms:W3CDTF">2026-06-11T10:06:49Z</dcterms:modified>
</cp:coreProperties>
</file>